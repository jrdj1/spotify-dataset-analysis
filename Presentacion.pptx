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16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0" y="914400"/>
            <a:ext cx="1463040" cy="14630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840480" y="9601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Cuadros de Mando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Dataset Analysis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6400800" cy="36576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 ·  Panel Web MVC  ·  Power BI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Rafael de Julián Vicedo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336"/>
          </a:solidFill>
          <a:ln w="12700">
            <a:solidFill>
              <a:srgbClr val="1323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Esquema relacional  ·  Carga masiva  ·  Optimizaciones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4592" y="4846320"/>
            <a:ext cx="8979408" cy="54864"/>
          </a:xfrm>
          <a:prstGeom prst="rect">
            <a:avLst/>
          </a:prstGeom>
          <a:solidFill>
            <a:srgbClr val="132336"/>
          </a:solidFill>
          <a:ln w="12700">
            <a:solidFill>
              <a:srgbClr val="1323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~264 KB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7772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468880" y="8229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0" y="8229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 CSV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777240"/>
            <a:ext cx="1920240" cy="960120"/>
          </a:xfrm>
          <a:prstGeom prst="roundRect">
            <a:avLst>
              <a:gd name="adj" fmla="val 5714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675120" y="82296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1316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destino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051999"/>
              </p:ext>
            </p:extLst>
          </p:nvPr>
        </p:nvGraphicFramePr>
        <p:xfrm>
          <a:off x="365760" y="1874520"/>
          <a:ext cx="8412480" cy="2286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Fichero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destino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spotify_data.csv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171,702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1.159.764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ListaUsuarios.csv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15,043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ListaDirecciones.csv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6,970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favoritas.csv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69,727 KB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2.099.985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Relacional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777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20025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22951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2587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77724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canciones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834640" y="32461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favoritas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907792" y="359359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926080" y="3886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834640" y="4471416"/>
            <a:ext cx="2971800" cy="292608"/>
          </a:xfrm>
          <a:prstGeom prst="rect">
            <a:avLst/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2926080" y="4471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poblacion ★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926080" y="4764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00800" y="2880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" y="443484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411480" y="445312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Desnormalización: poblacion/provincia copiados a usuarios · poblacion/artist_name copiados a favoritas  →  elimina JOINs en consultas BI</a:t>
            </a:r>
            <a:endParaRPr lang="en-US" sz="1100" dirty="0"/>
          </a:p>
        </p:txBody>
      </p:sp>
      <p:pic>
        <p:nvPicPr>
          <p:cNvPr id="61" name="Imagen 60">
            <a:extLst>
              <a:ext uri="{FF2B5EF4-FFF2-40B4-BE49-F238E27FC236}">
                <a16:creationId xmlns:a16="http://schemas.microsoft.com/office/drawing/2014/main" id="{C54303C9-2BAB-10E5-CD0C-70EC0E6FC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791" y="816584"/>
            <a:ext cx="4825218" cy="3471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· Python + LOAD DATA LOCAL INFILE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813816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813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804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secuencial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0789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el orden FK: direcciones → usuarios → canciones → favoritas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15910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LOCAL INFILE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86537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binaria directa, sin roundtrip Python, mucho más rápida que INSERT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7432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2377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/ ENABLE KEYS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26517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 índices secundarios durante la carga y los reconstruye al final (batch)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172968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2743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16382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Unicode NFC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4381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unicodedata.normalize('NFC') + codificación utf8mb4 antes de la carga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95935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2743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Desnormalización M:N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42245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JOIN tras la carga para copiar poblacion y artist_name a favoritas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inserción (Oracle Cloud)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143000"/>
          <a:ext cx="3749040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1.159.764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105,692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2.099.985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66,199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3.709.749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176,450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3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Optimizaciones de Rendimiento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innodb_buffer_pool_size = 6 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complejo en favoritas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10,094 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48840" y="1444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6040" y="14447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0,594 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1874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94%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777240"/>
            <a:ext cx="4114800" cy="1508760"/>
          </a:xfrm>
          <a:prstGeom prst="roundRect">
            <a:avLst>
              <a:gd name="adj" fmla="val 4848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0060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secundarios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idx_canciones_artist   →  artist_name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4538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idx_fav_dni            →  dni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idx_fav_track          →  track_id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idx_dir_poblacion      →  poblacion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29768" y="2468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Desnormalización M:N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2816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favoritas almacena poblacion + artist_name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JOINs usuarios/canciones en cada consulta BI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423160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55848" y="2468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/etc/my.cnf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2816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[mysqld]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innodb_buffer_pool_size = 6G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Activo tras restart del servicio MySQL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2423160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281928" y="246888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ARCHIVE (basura)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81928" y="2816352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favoritas_historico con motor ARCHIVE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zlib ~10:1 para datos históricos fríos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931920"/>
            <a:ext cx="8503920" cy="36576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20040" y="4023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 en Oracle Cloud VM.Standard.A1.Flex · Oracle Linux 9 · MySQL 8.4.8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 ·  Diseño y Arquitectura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 ·  Arquitectura MVC  ·  Panel de Estado  ·  Cuadros de Mando  ·  Despliegue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 de la Aplicación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7680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http://79.72.55.215/spotify_cm/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73152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principal, MVC sin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73152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web, mod_rewrite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54096"/>
            <a:ext cx="73152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 · 1.16 M canciones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73152" cy="47548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VM.Standard.A1.Flex · OCI · OL9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3736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983480" y="18105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Panel de Estado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2121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?modulo=panel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3591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almacenamiento, rendimiento MySQL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recolector de basura con motor ARCHIVE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15468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4983480" y="32278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Cuadros de Mando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538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?modulo=visualizaciones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7764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dashboards interactivos con AJAX/JSON: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Chart.js, DataTables, Leaflet + CARTO dark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· Front Controller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7589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795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0332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HTTP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1A3A55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mod_rewrite · .htaccess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305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index.php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404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Controller · ?modulo=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6791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2852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0906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módulo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3649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021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502920" y="3538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(PDO)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7764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ATTR_EMULATE_PREPARES=false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05079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8795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0B3D1E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spotify_cm · localhost:3306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7589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 clave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161288"/>
            <a:ext cx="4160520" cy="804672"/>
          </a:xfrm>
          <a:prstGeom prst="roundRect">
            <a:avLst>
              <a:gd name="adj" fmla="val 5682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00600" y="12161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Inmunidad SQL injection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14904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con ATTR_EMULATE_PREPARES=false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reales en el servidor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093976"/>
            <a:ext cx="4160520" cy="804672"/>
          </a:xfrm>
          <a:prstGeom prst="roundRect">
            <a:avLst>
              <a:gd name="adj" fmla="val 5682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4800600" y="2148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framework externo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24231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puro — cero dependencias, máxima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y control del flujo MVC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026664"/>
            <a:ext cx="4160520" cy="804672"/>
          </a:xfrm>
          <a:prstGeom prst="roundRect">
            <a:avLst>
              <a:gd name="adj" fmla="val 5682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800600" y="30815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+ JSON desacoplado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335584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dashboards cargan datos asíncronos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fetch() → PHP → MySQL → JSON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959352"/>
            <a:ext cx="4160520" cy="804672"/>
          </a:xfrm>
          <a:prstGeom prst="roundRect">
            <a:avLst>
              <a:gd name="adj" fmla="val 5682"/>
            </a:avLst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800600" y="40142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 (Post-Redirect-Get)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428853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acción basura → redirect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doble envío en F5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Panel de Estado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88920" cy="3840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Almacenamiento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84048" y="122529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disk_free_space() PHP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84048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GB libres / 29,4 GB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84048" y="23957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INFORMATION_SCHEMA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84048" y="29809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995,5 MB → esquema spotify_cm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11296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84048" y="35661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visual de uso de disco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749808"/>
            <a:ext cx="2788920" cy="3840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20040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Rendimiento 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1170432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310128" y="122529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profiling =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755648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310128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TABLES (frío buffer pool)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340864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310128" y="23957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canciones LIMIT 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10128" y="29809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PROFILES → tiempo real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511296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310128" y="35661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Semáforo: verde / naranja / rojo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096512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3310128" y="415137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305,852 ms frío · 5 ms caliente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749808"/>
            <a:ext cx="2788920" cy="3840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126480" y="74980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Recolector de Basura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1170432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6236208" y="122529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703.912 candidatos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1755648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6236208" y="181051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&lt; 2010 AND popularity &lt; 30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2340864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6236208" y="23957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 favoritas_historico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6236208" y="298094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ARCHIVE (zlib ~10:1)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3511296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32336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236208" y="356616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Post/Redirect/Get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4096512"/>
            <a:ext cx="2788920" cy="502920"/>
          </a:xfrm>
          <a:prstGeom prst="roundRect">
            <a:avLst>
              <a:gd name="adj" fmla="val 5455"/>
            </a:avLst>
          </a:prstGeom>
          <a:solidFill>
            <a:srgbClr val="1A2E47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6236208" y="415137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irreversible confirmada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Cuadros de Mando (AJAX + JSON)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DB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Artistas favoritos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Barras verticales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ciudad AJAX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canciones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DataTables 1.13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paginada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· búsqueda · orden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15 canciones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Chart.js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Barras horizontales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Tooltips con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323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de 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DB9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Leaflet 1.9 + CARTO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B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interactivo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proporcionales · popups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407408"/>
            <a:ext cx="8503920" cy="475488"/>
          </a:xfrm>
          <a:prstGeom prst="roundRect">
            <a:avLst>
              <a:gd name="adj" fmla="val 9615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AJAX:  fetch() JS  →  PHP endpoint  →  PDO prepared statement  →  JSON  →  librería de visualización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· Oracle Cloud Infrastructure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30936"/>
            <a:ext cx="8412480" cy="3200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4048" y="12161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14300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810512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VM.Standard.A1.Flex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4048" y="176479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37360" y="169164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810512" y="17647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Linux 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84048" y="231343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224028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810512" y="2313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2.4 + mod_rewrite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78892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384048" y="286207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737360" y="278892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810512" y="2862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(FPM / CLI)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3756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84048" y="34107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37360" y="333756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1810512" y="3410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8.4.8 HeatWave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886200"/>
            <a:ext cx="1417320" cy="457200"/>
          </a:xfrm>
          <a:prstGeom prst="rect">
            <a:avLst/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84048" y="3959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pública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886200"/>
            <a:ext cx="2697480" cy="457200"/>
          </a:xfrm>
          <a:prstGeom prst="rect">
            <a:avLst/>
          </a:prstGeom>
          <a:solidFill>
            <a:srgbClr val="132336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1810512" y="3959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79.72.55.215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77724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SELinux &amp; Red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1143000"/>
            <a:ext cx="4114800" cy="594360"/>
          </a:xfrm>
          <a:prstGeom prst="roundRect">
            <a:avLst>
              <a:gd name="adj" fmla="val 7692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828032" y="1197864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httpd_sys_content_t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144475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PHP en /var/www/html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856232"/>
            <a:ext cx="4114800" cy="594360"/>
          </a:xfrm>
          <a:prstGeom prst="roundRect">
            <a:avLst>
              <a:gd name="adj" fmla="val 7692"/>
            </a:avLst>
          </a:prstGeom>
          <a:solidFill>
            <a:srgbClr val="1A2E47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828032" y="1911096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httpd_can_network_connect_db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28032" y="215798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→ MySQL por socket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26700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09160" y="3017520"/>
            <a:ext cx="713232" cy="594360"/>
          </a:xfrm>
          <a:prstGeom prst="roundRect">
            <a:avLst>
              <a:gd name="adj" fmla="val 7692"/>
            </a:avLst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4709160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22392" y="31821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13832" y="3017520"/>
            <a:ext cx="713232" cy="594360"/>
          </a:xfrm>
          <a:prstGeom prst="roundRect">
            <a:avLst>
              <a:gd name="adj" fmla="val 7692"/>
            </a:avLst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513832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27064" y="31821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18504" y="3017520"/>
            <a:ext cx="713232" cy="594360"/>
          </a:xfrm>
          <a:prstGeom prst="roundRect">
            <a:avLst>
              <a:gd name="adj" fmla="val 7692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318504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(OCI)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031736" y="31821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23176" y="3017520"/>
            <a:ext cx="713232" cy="594360"/>
          </a:xfrm>
          <a:prstGeom prst="roundRect">
            <a:avLst>
              <a:gd name="adj" fmla="val 7692"/>
            </a:avLst>
          </a:prstGeom>
          <a:solidFill>
            <a:srgbClr val="1A2E47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6"/>
          <p:cNvSpPr/>
          <p:nvPr/>
        </p:nvSpPr>
        <p:spPr>
          <a:xfrm>
            <a:off x="7123176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836408" y="31821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27848" y="3017520"/>
            <a:ext cx="713232" cy="594360"/>
          </a:xfrm>
          <a:prstGeom prst="roundRect">
            <a:avLst>
              <a:gd name="adj" fmla="val 7692"/>
            </a:avLst>
          </a:prstGeom>
          <a:solidFill>
            <a:srgbClr val="0B3D1E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7927848" y="3017520"/>
            <a:ext cx="713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274320" y="4818888"/>
            <a:ext cx="8686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 Información  ·  Jorge Rafael de Julián Vicedo  ·  Universidad de Alicante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959</Words>
  <Application>Microsoft Office PowerPoint</Application>
  <PresentationFormat>Presentación en pantalla (16:9)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Cuadros de Mando · Spotify Dataset Analysis</dc:title>
  <dc:subject>PptxGenJS Presentation</dc:subject>
  <dc:creator>Jorge Rafael de Julián Vicedo</dc:creator>
  <cp:lastModifiedBy>Jorge Rafael De Julian Vicedo</cp:lastModifiedBy>
  <cp:revision>3</cp:revision>
  <dcterms:created xsi:type="dcterms:W3CDTF">2026-05-19T23:57:54Z</dcterms:created>
  <dcterms:modified xsi:type="dcterms:W3CDTF">2026-05-20T08:19:26Z</dcterms:modified>
</cp:coreProperties>
</file>